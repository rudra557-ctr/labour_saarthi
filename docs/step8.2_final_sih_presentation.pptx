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PS 26246 asks for a demand-supply gap forecasting engine. We built the platform such an engine requires - and we will show you something most teams will not: exactly which number the evidence cannot support, and why that matters more than a confident guess.</a:t>
            </a:r>
          </a:p>
          <a:p>
            <a:endParaRPr lang="en-IN"/>
          </a:p>
          <a:p>
            <a:r>
              <a:rPr lang="en-IN" sz="1200"/>
              <a:t>Keep this slide to 20 seconds. Do not open with the limitation; open with the build.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Before a state sanctions seats, it needs to know which district-and-trade combinations are heading for shortage or oversupply. Today that judgement is last year's targets plus a bit.</a:t>
            </a:r>
          </a:p>
          <a:p>
            <a:endParaRPr lang="en-IN"/>
          </a:p>
          <a:p>
            <a:r>
              <a:rPr lang="en-IN" sz="1200"/>
              <a:t>The data exists - in five vintages across fourteen years, two occupation schemes, and three different statistical natures. Not one source carries a district-by-occupation vacancy count.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Three failure modes recur in work on this problem. Scraping job portals - richest data, least defensible: postings are not vacancies, and it breaches terms of service. Treating a classification as a crosswalk - we proved NCS's 22 'sectors' are NIC-2008 industry sections, not occupations, so no sector-to-occupation mapping can exist as a function. And filling the gap with an assumption and calling it a model.</a:t>
            </a:r>
          </a:p>
          <a:p>
            <a:endParaRPr lang="en-IN"/>
          </a:p>
          <a:p>
            <a:r>
              <a:rPr lang="en-IN" sz="1200"/>
              <a:t>We have the demand side. We do not have supply at a compatible grain - and that single missing component is what blocks the result.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Left to right is unremarkable. Two things are not.</a:t>
            </a:r>
          </a:p>
          <a:p>
            <a:endParaRPr lang="en-IN"/>
          </a:p>
          <a:p>
            <a:r>
              <a:rPr lang="en-IN" sz="1200"/>
              <a:t>The publication contract near the bottom: evidence status, confidence, coverage and prohibited interpretations are part of the response contract, and the application refuses to start if any output breaches it.</a:t>
            </a:r>
          </a:p>
          <a:p>
            <a:endParaRPr lang="en-IN"/>
          </a:p>
          <a:p>
            <a:r>
              <a:rPr lang="en-IN" sz="1200"/>
              <a:t>And the red boundary: where compatible supply evidence is missing, the pipeline BLOCKS rather than estimates. Do not read the boxes aloud - point at those two things.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NCO-2015 is the occupation spine - 3,982 occupations. Census is coded in NCO-2004, so it is bridged through the OFFICIAL 3,447-row concordance, and division purity is measured rather than assumed.</a:t>
            </a:r>
          </a:p>
          <a:p>
            <a:endParaRPr lang="en-IN"/>
          </a:p>
          <a:p>
            <a:r>
              <a:rPr lang="en-IN" sz="1200"/>
              <a:t>Our one official trade-to-NCO link came from DGT's own CTS curriculum PDFs, which carry a Trade Code and an NCO-2015 field - that gave us two trades. The other 153 remain MAPPING_UNKNOWN. We could have matched all 155 by name resemblance in an afternoon. Fuzzy, semantic and LLM mapping are prohibited project-wide, because the result would be invented.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NCS has no occupation axis at all. We found the bridge in ILOSTAT's India series - whose own source is PLFS - giving an official probability of NCO division given NIC section. That makes the occupation composition estimated, and confidence varies by row, not one badge per table.</a:t>
            </a:r>
          </a:p>
          <a:p>
            <a:endParaRPr lang="en-IN"/>
          </a:p>
          <a:p>
            <a:r>
              <a:rPr lang="en-IN" sz="1200"/>
              <a:t>Note the product names: Allocation Signal. Never 'demand ranking'. A terminology lint fails the build if anyone writes that.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Three minutes live: national evidence, a district drill-down with its caveat, and the page listing what we cannot compute.</a:t>
            </a:r>
          </a:p>
          <a:p>
            <a:endParaRPr lang="en-IN"/>
          </a:p>
          <a:p>
            <a:r>
              <a:rPr lang="en-IN" sz="1200"/>
              <a:t>Open with the header mode chips - NUMERIC_GAP: NOT_IDENTIFIABLE, is_measured_shortage: false - so the frame is set before any number appears. The app runs fully offline.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Most dashboards would quietly drop the residual. Twenty and a half million vacancies belong to no state. We never allocate them; allocating them is a PROHIBITED capability with its own blocked route.</a:t>
            </a:r>
          </a:p>
          <a:p>
            <a:endParaRPr lang="en-IN"/>
          </a:p>
          <a:p>
            <a:r>
              <a:rPr lang="en-IN" sz="1200"/>
              <a:t>And the distinction we work hardest to teach: 'estimated' means the number exists but was derived; 'unavailable' means it does not exist and cannot currently be computed. Rendering both as a blank is exactly how a tool like this misleads.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The grouping is the point. NOT_ACQUIRED means the source exists and we have not got it - the data.gov.in PMKVY district resource needs a registered API key. A paperwork problem.</a:t>
            </a:r>
          </a:p>
          <a:p>
            <a:endParaRPr lang="en-IN"/>
          </a:p>
          <a:p>
            <a:r>
              <a:rPr lang="en-IN" sz="1200"/>
              <a:t>NOT_IDENTIFIABLE is different. Supply by state and trade is a joint distribution. We hold the row totals plus 21.8% of the column totals, from a different scheme. Row and column totals never determine the interior. To close it you must assume every state trains the same trade mix - false, untestable, and it would erase the exact regional mismatch this PS exists to find.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The honest innovation is the discipline, and it is measurable. We found that our own district ranking was really an enterprise-density ranking, and instead of hiding that we printed it above the table and built a contract that will not let anyone remove it.</a:t>
            </a:r>
          </a:p>
          <a:p>
            <a:endParaRPr lang="en-IN"/>
          </a:p>
          <a:p>
            <a:r>
              <a:rPr lang="en-IN" sz="1200"/>
              <a:t>If asked where the AI is: be direct. There is no model in production. Forecasting needs two dated observations; we have one. A learned gap model needs a target variable; the target is not identifiable. An early-warning classifier needs labels; none exist.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Nine objective gates, published inside the product itself. The decisive one is G-1 condition six: one observed interior cell of supply by geography and trade. The other five conditions are harmonisation problems that better data solves. Condition six is why this is an identification failure - more of the same marginals never passes it.</a:t>
            </a:r>
          </a:p>
          <a:p>
            <a:endParaRPr lang="en-IN"/>
          </a:p>
          <a:p>
            <a:r>
              <a:rPr lang="en-IN" sz="1200"/>
              <a:t>Note the parallel track: Census B-24 for thirty-three more states is pure acquisition. The architecture already handles the full grid - 138 to 785 districts with no formula change.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/>
              <a:t>A fabricated gap would be worse than none: the error would be invisible, systematically wrong in one direction, and it informs seat sanctioning - real money.</a:t>
            </a:r>
          </a:p>
          <a:p>
            <a:endParaRPr lang="en-IN"/>
          </a:p>
          <a:p>
            <a:r>
              <a:rPr lang="en-IN" sz="1200"/>
              <a:t>So we did not manufacture the missing number. We built the infrastructure that tells decision-makers what the evidence supports, and exactly what evidence is required to go further.</a:t>
            </a:r>
          </a:p>
          <a:p>
            <a:endParaRPr lang="en-IN"/>
          </a:p>
          <a:p>
            <a:r>
              <a:rPr lang="en-IN" sz="1200"/>
              <a:t>Happy to take the hardest question you have.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Notes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1417320"/>
            <a:ext cx="11002975" cy="1737359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4000" b="1" i="0" dirty="0">
                <a:solidFill>
                  <a:srgbClr val="15171C"/>
                </a:solidFill>
                <a:latin typeface="Arial"/>
              </a:rPr>
              <a:t>AI-Enabled Labour Market Intelligence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2100" b="0" i="0" dirty="0">
                <a:solidFill>
                  <a:srgbClr val="1A4FA0"/>
                </a:solidFill>
                <a:latin typeface="Arial"/>
              </a:rPr>
              <a:t>From fragmented official data to evidence-backed skill demand signals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3291840"/>
            <a:ext cx="11002975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687080"/>
                </a:solidFill>
                <a:latin typeface="Arial"/>
              </a:rPr>
              <a:t>Smart India Hackathon 2026  ·  PS ID 26246  ·  Ministry of Skill Development and Entrepreneurship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66928" y="40690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500" b="1" i="0" dirty="0">
                <a:solidFill>
                  <a:srgbClr val="1A4FA0"/>
                </a:solidFill>
                <a:latin typeface="Arial"/>
              </a:rPr>
              <a:t>26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15171C"/>
                </a:solidFill>
                <a:latin typeface="Arial"/>
              </a:rPr>
              <a:t>official sources, under 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15171C"/>
                </a:solidFill>
                <a:latin typeface="Arial"/>
              </a:rPr>
              <a:t>licence gate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3419856" y="40690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500" b="1" i="0" dirty="0">
                <a:solidFill>
                  <a:srgbClr val="1A4FA0"/>
                </a:solidFill>
                <a:latin typeface="Arial"/>
              </a:rPr>
              <a:t>40 tables · 82,358 rows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15171C"/>
                </a:solidFill>
                <a:latin typeface="Arial"/>
              </a:rPr>
              <a:t>conformed warehouse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272784" y="40690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500" b="1" i="0" dirty="0">
                <a:solidFill>
                  <a:srgbClr val="1A4FA0"/>
                </a:solidFill>
                <a:latin typeface="Arial"/>
              </a:rPr>
              <a:t>30 API routes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15171C"/>
                </a:solidFill>
                <a:latin typeface="Arial"/>
              </a:rPr>
              <a:t>20 production · 10 blocked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125712" y="4069080"/>
            <a:ext cx="2496312" cy="9144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500" b="1" i="0" dirty="0">
                <a:solidFill>
                  <a:srgbClr val="1A4FA0"/>
                </a:solidFill>
                <a:latin typeface="Arial"/>
              </a:rPr>
              <a:t>479 tests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15171C"/>
                </a:solidFill>
                <a:latin typeface="Arial"/>
              </a:rPr>
              <a:t>one command rebuilds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15171C"/>
                </a:solidFill>
                <a:latin typeface="Arial"/>
              </a:rPr>
              <a:t>everything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Every figure in this deck is verified against the running repository.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Targets are set on data that cannot be joined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Six official sources feed production. None of them is directly comparable with another.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66928" y="16916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15171C"/>
                </a:solidFill>
                <a:latin typeface="Arial"/>
              </a:rPr>
              <a:t>NCS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grain: state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vintage: 2024-11-15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297680" y="16916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15171C"/>
                </a:solidFill>
                <a:latin typeface="Arial"/>
              </a:rPr>
              <a:t>Udyam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grain: district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vintage: 2023-12-21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028432" y="16916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15171C"/>
                </a:solidFill>
                <a:latin typeface="Arial"/>
              </a:rPr>
              <a:t>Census B-24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grain: district x occupation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vintage: 2011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66928" y="28346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15171C"/>
                </a:solidFill>
                <a:latin typeface="Arial"/>
              </a:rPr>
              <a:t>LGD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grain: geography directory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vintage: monthly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297680" y="28346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15171C"/>
                </a:solidFill>
                <a:latin typeface="Arial"/>
              </a:rPr>
              <a:t>PLFS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grain: national only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vintage: Apr 2025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028432" y="283464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CBD2DE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15171C"/>
                </a:solidFill>
                <a:latin typeface="Arial"/>
              </a:rPr>
              <a:t>MSDE AR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grain: state x scheme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vintage: 2024-03-31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66928" y="4114800"/>
            <a:ext cx="11002975" cy="1371600"/>
          </a:xfrm>
          <a:prstGeom prst="roundRect">
            <a:avLst>
              <a:gd name="adj" fmla="val 8000"/>
            </a:avLst>
          </a:prstGeom>
          <a:solidFill>
            <a:srgbClr val="FAE8E8"/>
          </a:solidFill>
          <a:ln w="15875">
            <a:solidFill>
              <a:srgbClr val="9A2A2A"/>
            </a:solidFill>
          </a:ln>
        </p:spPr>
        <p:txBody>
          <a:bodyPr anchor="ctr" wrap="square" lIns="274319" tIns="274319" rIns="274319" bIns="274319">
            <a:norm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700" b="1" i="0" dirty="0">
                <a:solidFill>
                  <a:srgbClr val="15171C"/>
                </a:solidFill>
                <a:latin typeface="Arial"/>
              </a:rPr>
              <a:t>Five vintages spanning fourteen years.  Two occupation schemes.  Three statistical natures.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700" b="1" i="0" dirty="0">
                <a:solidFill>
                  <a:srgbClr val="9A2A2A"/>
                </a:solidFill>
                <a:latin typeface="Arial"/>
              </a:rPr>
              <a:t>No source carries a district x occupation vacancy count — which is exactly what the finest requirement needs.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Sources: NCS Parliament answers · Udyam MSME · Census 2011 B-24 · LGD · PLFS · MSDE Annual Report 2023-24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Why the problem is technically difficult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A gap is computable only when four components line up. One missing component blocks it.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940603" y="1417320"/>
            <a:ext cx="10255623" cy="4754880"/>
          </a:xfrm>
          <a:prstGeom prst="rect">
            <a:avLst/>
          </a:prstGeom>
        </p:spPr>
      </p:pic>
      <p:sp>
        <p:nvSpPr>
          <p:cNvPr id="5" name="Shape 5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Source: Step 6 identification analysis · PMKVY 4.0 Top-10 job roles = 514,619 of 2,361,798 enrolments (21.8%)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Evidence-first architecture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Official sources in, provenance out — nothing invented in between.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729193" y="1280160"/>
            <a:ext cx="673330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Official data → standardised intelligence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Every mapping carries its authority, method and confidence.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660" y="1371600"/>
            <a:ext cx="9963509" cy="4800600"/>
          </a:xfrm>
          <a:prstGeom prst="rect">
            <a:avLst/>
          </a:prstGeom>
        </p:spPr>
      </p:pic>
      <p:sp>
        <p:nvSpPr>
          <p:cNvPr id="5" name="Shape 5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Sources: DGE NCO-2015 · official NCO-2004 concordance · LGD · NIC-2008 · DGT CTS curricula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Current analytical outputs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Two observed products, three estimated signals, one context panel — each labelled on the face of the product.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66928" y="1600200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E2F2EA"/>
          </a:solidFill>
          <a:ln w="15875">
            <a:solidFill>
              <a:srgbClr val="15543A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15543A"/>
                </a:solidFill>
                <a:latin typeface="Arial"/>
              </a:rPr>
              <a:t>OBSERVED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2212848" y="1600200"/>
            <a:ext cx="525780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NCS state demand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543800" y="160020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45720" tIns="45720" rIns="45720" bIns="4572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state (37 + 1 residual)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710928" y="1600200"/>
            <a:ext cx="1911096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15543A"/>
                </a:solidFill>
                <a:latin typeface="Arial"/>
              </a:rPr>
              <a:t>OBSERVED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66928" y="2258567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E2F2EA"/>
          </a:solidFill>
          <a:ln w="15875">
            <a:solidFill>
              <a:srgbClr val="15543A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15543A"/>
                </a:solidFill>
                <a:latin typeface="Arial"/>
              </a:rPr>
              <a:t>OBSERVED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212848" y="2258567"/>
            <a:ext cx="525780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NCS demand by industry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543800" y="2258567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45720" tIns="45720" rIns="45720" bIns="4572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22 NCS sectors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710928" y="2258567"/>
            <a:ext cx="1911096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15543A"/>
                </a:solidFill>
                <a:latin typeface="Arial"/>
              </a:rPr>
              <a:t>OBSERVED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66928" y="2916935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15875">
            <a:solidFill>
              <a:srgbClr val="8A6400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8A6400"/>
                </a:solidFill>
                <a:latin typeface="Arial"/>
              </a:rPr>
              <a:t>ESTIMATED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2212848" y="2916935"/>
            <a:ext cx="525780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National occupation composition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7543800" y="2916935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45720" tIns="45720" rIns="45720" bIns="4572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NIC section x NCO division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9710928" y="2916935"/>
            <a:ext cx="1911096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8A6400"/>
                </a:solidFill>
                <a:latin typeface="Arial"/>
              </a:rPr>
              <a:t>157 MEDIUM / 18 LOW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66928" y="3575303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15875">
            <a:solidFill>
              <a:srgbClr val="8A6400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8A6400"/>
                </a:solidFill>
                <a:latin typeface="Arial"/>
              </a:rPr>
              <a:t>ESTIMATED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2212848" y="3575303"/>
            <a:ext cx="525780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District Relative Demand Allocation Signal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7543800" y="3575303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45720" tIns="45720" rIns="45720" bIns="4572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785 districts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9710928" y="3575303"/>
            <a:ext cx="1911096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8A6400"/>
                </a:solidFill>
                <a:latin typeface="Arial"/>
              </a:rPr>
              <a:t>MEDIUM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66928" y="4233671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15875">
            <a:solidFill>
              <a:srgbClr val="8A6400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8A6400"/>
                </a:solidFill>
                <a:latin typeface="Arial"/>
              </a:rPr>
              <a:t>ESTIMATED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2212848" y="4233671"/>
            <a:ext cx="525780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District x Occupation Relative Demand Allocation Signal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7543800" y="4233671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45720" tIns="45720" rIns="45720" bIns="4572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138 of 785 districts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9710928" y="4233671"/>
            <a:ext cx="1911096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8A6400"/>
                </a:solidFill>
                <a:latin typeface="Arial"/>
              </a:rPr>
              <a:t>LOW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66928" y="4892039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 w="15875">
            <a:solidFill>
              <a:srgbClr val="3C4A63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3C4A63"/>
                </a:solidFill>
                <a:latin typeface="Arial"/>
              </a:rPr>
              <a:t>SUPPORTING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2212848" y="4892039"/>
            <a:ext cx="525780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Labour-force context (PLFS)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7543800" y="4892039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45720" tIns="45720" rIns="45720" bIns="4572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national only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9710928" y="4892039"/>
            <a:ext cx="1911096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00" b="1" i="0" dirty="0">
                <a:solidFill>
                  <a:srgbClr val="3C4A63"/>
                </a:solidFill>
                <a:latin typeface="Arial"/>
              </a:rPr>
              <a:t>not a demand measure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566928" y="5623559"/>
            <a:ext cx="11002975" cy="56692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A4FA0"/>
            </a:solidFill>
          </a:ln>
        </p:spPr>
        <p:txBody>
          <a:bodyPr anchor="ctr" wrap="square" lIns="164592" tIns="164592" rIns="164592" bIns="164592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350" b="1" i="0" dirty="0">
                <a:solidFill>
                  <a:srgbClr val="1A4FA0"/>
                </a:solidFill>
                <a:latin typeface="Arial"/>
              </a:rPr>
              <a:t>Unit of the signals:  relative_signal_unitless  —  not a count. Occupation axis bridged via ILOSTAT/PLFS  P(NCO division | NIC section).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Source: publication contract 7.3.1 · NCS Parliament answers as on 15 Nov 2024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National → State → District → Occupation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The live product. Evidence weakens as you drill down, and the interface says so.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66928" y="1481328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1" i="0" dirty="0">
                <a:solidFill>
                  <a:srgbClr val="1A4FA0"/>
                </a:solidFill>
                <a:latin typeface="Arial"/>
              </a:rPr>
              <a:t>NATIONAL</a:t>
            </a:r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949" y="1828800"/>
            <a:ext cx="1649436" cy="3063240"/>
          </a:xfrm>
          <a:prstGeom prst="rect">
            <a:avLst/>
          </a:prstGeom>
        </p:spPr>
      </p:pic>
      <p:sp>
        <p:nvSpPr>
          <p:cNvPr id="6" name="Shape 6"/>
          <p:cNvSpPr txBox="1"/>
          <p:nvPr/>
        </p:nvSpPr>
        <p:spPr>
          <a:xfrm>
            <a:off x="566928" y="4983480"/>
            <a:ext cx="2697480" cy="777239"/>
          </a:xfrm>
          <a:prstGeom prst="rect">
            <a:avLst/>
          </a:prstGeom>
          <a:noFill/>
          <a:ln>
            <a:noFill/>
          </a:ln>
        </p:spPr>
        <p:txBody>
          <a:bodyPr anchor="t" wrap="square" lIns="36576" tIns="36576" r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observed + estimated + context, kept apart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438144" y="1481328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1" i="0" dirty="0">
                <a:solidFill>
                  <a:srgbClr val="1A4FA0"/>
                </a:solidFill>
                <a:latin typeface="Arial"/>
              </a:rPr>
              <a:t>STATE</a:t>
            </a:r>
          </a:p>
        </p:txBody>
      </p:sp>
      <p:pic>
        <p:nvPicPr>
          <p:cNvPr id="8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3893439" y="1828800"/>
            <a:ext cx="1786889" cy="3063240"/>
          </a:xfrm>
          <a:prstGeom prst="rect">
            <a:avLst/>
          </a:prstGeom>
        </p:spPr>
      </p:pic>
      <p:sp>
        <p:nvSpPr>
          <p:cNvPr id="9" name="Shape 9"/>
          <p:cNvSpPr txBox="1"/>
          <p:nvPr/>
        </p:nvSpPr>
        <p:spPr>
          <a:xfrm>
            <a:off x="3438144" y="4983480"/>
            <a:ext cx="2697480" cy="777239"/>
          </a:xfrm>
          <a:prstGeom prst="rect">
            <a:avLst/>
          </a:prstGeom>
          <a:noFill/>
          <a:ln>
            <a:noFill/>
          </a:ln>
        </p:spPr>
        <p:txBody>
          <a:bodyPr anchor="t" wrap="square" lIns="36576" tIns="36576" r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districts within state, with the caveat above the table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309360" y="1481328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1" i="0" dirty="0">
                <a:solidFill>
                  <a:srgbClr val="1A4FA0"/>
                </a:solidFill>
                <a:latin typeface="Arial"/>
              </a:rPr>
              <a:t>DISTRICT</a:t>
            </a:r>
          </a:p>
        </p:txBody>
      </p:sp>
      <p:pic>
        <p:nvPicPr>
          <p:cNvPr id="11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309360" y="2204357"/>
            <a:ext cx="2697480" cy="2312125"/>
          </a:xfrm>
          <a:prstGeom prst="rect">
            <a:avLst/>
          </a:prstGeom>
        </p:spPr>
      </p:pic>
      <p:sp>
        <p:nvSpPr>
          <p:cNvPr id="12" name="Shape 12"/>
          <p:cNvSpPr txBox="1"/>
          <p:nvPr/>
        </p:nvSpPr>
        <p:spPr>
          <a:xfrm>
            <a:off x="6309360" y="4983480"/>
            <a:ext cx="2697480" cy="777239"/>
          </a:xfrm>
          <a:prstGeom prst="rect">
            <a:avLst/>
          </a:prstGeom>
          <a:noFill/>
          <a:ln>
            <a:noFill/>
          </a:ln>
        </p:spPr>
        <p:txBody>
          <a:bodyPr anchor="t" wrap="square" lIns="36576" tIns="36576" r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NOT_AVAILABLE with a reason — never a zero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9180575" y="1481328"/>
            <a:ext cx="2697480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36576" tIns="36576" r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1" i="0" dirty="0">
                <a:solidFill>
                  <a:srgbClr val="1A4FA0"/>
                </a:solidFill>
                <a:latin typeface="Arial"/>
              </a:rPr>
              <a:t>OCCUPATION</a:t>
            </a:r>
          </a:p>
        </p:txBody>
      </p:sp>
      <p:pic>
        <p:nvPicPr>
          <p:cNvPr id="14" name="Picture 14"/>
          <p:cNvPicPr/>
          <p:nvPr/>
        </p:nvPicPr>
        <p:blipFill>
          <a:blip r:embed="rId5"/>
          <a:stretch>
            <a:fillRect/>
          </a:stretch>
        </p:blipFill>
        <p:spPr>
          <a:xfrm>
            <a:off x="9554648" y="1828800"/>
            <a:ext cx="1949334" cy="3063240"/>
          </a:xfrm>
          <a:prstGeom prst="rect">
            <a:avLst/>
          </a:prstGeom>
        </p:spPr>
      </p:pic>
      <p:sp>
        <p:nvSpPr>
          <p:cNvPr id="15" name="Shape 15"/>
          <p:cNvSpPr txBox="1"/>
          <p:nvPr/>
        </p:nvSpPr>
        <p:spPr>
          <a:xfrm>
            <a:off x="9180575" y="4983480"/>
            <a:ext cx="2697480" cy="777239"/>
          </a:xfrm>
          <a:prstGeom prst="rect">
            <a:avLst/>
          </a:prstGeom>
          <a:noFill/>
          <a:ln>
            <a:noFill/>
          </a:ln>
        </p:spPr>
        <p:txBody>
          <a:bodyPr anchor="t" wrap="square" lIns="36576" tIns="36576" rIns="36576" bIns="36576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districts within state x NCO division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Screenshots of the running application · publication contract 7.3.1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Provenance, coverage and confidence travel with every value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Transparency controls, not caveats bolted on at the end.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66928" y="1554479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1A4FA0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2600" b="1" i="0" dirty="0">
                <a:solidFill>
                  <a:srgbClr val="1A4FA0"/>
                </a:solidFill>
                <a:latin typeface="Arial"/>
              </a:rPr>
              <a:t>58.13%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PAN-India / multiple-state residual.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20,507,320 vacancies, attributable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to no state — NEVER allocated.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15968" y="1554479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1A4FA0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2600" b="1" i="0" dirty="0">
                <a:solidFill>
                  <a:srgbClr val="1A4FA0"/>
                </a:solidFill>
                <a:latin typeface="Arial"/>
              </a:rPr>
              <a:t>41.87%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state-attributable — 14,768,513.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This is the ENTIRE base of the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district allocation signal.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065008" y="1554479"/>
            <a:ext cx="3557016" cy="150876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1A4FA0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2600" b="1" i="0" dirty="0">
                <a:solidFill>
                  <a:srgbClr val="1A4FA0"/>
                </a:solidFill>
                <a:latin typeface="Arial"/>
              </a:rPr>
              <a:t>138 / 785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districts have Census occupation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structure. 522 not acquired;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125 can never have one.</a:t>
            </a:r>
          </a:p>
        </p:txBody>
      </p:sp>
      <p:pic>
        <p:nvPicPr>
          <p:cNvPr id="7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2511176" y="3246120"/>
            <a:ext cx="7114478" cy="2651759"/>
          </a:xfrm>
          <a:prstGeom prst="rect">
            <a:avLst/>
          </a:prstGeom>
        </p:spPr>
      </p:pic>
      <p:sp>
        <p:nvSpPr>
          <p:cNvPr id="8" name="Shape 8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All three figures are read live from the warehouse — a test fails the build if they appear as literals in the code.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What cannot yet be measured — and why we say so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16 capabilities are published as explicitly unavailable, each with a reason and a gate.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66928" y="1627632"/>
            <a:ext cx="5029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Numeric demand–supply gap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715000" y="1627632"/>
            <a:ext cx="3017520" cy="548639"/>
          </a:xfrm>
          <a:prstGeom prst="roundRect">
            <a:avLst>
              <a:gd name="adj" fmla="val 8000"/>
            </a:avLst>
          </a:prstGeom>
          <a:solidFill>
            <a:srgbClr val="FAE8E8"/>
          </a:solidFill>
          <a:ln w="15875">
            <a:solidFill>
              <a:srgbClr val="9A2A2A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50" b="1" i="0" dirty="0">
                <a:solidFill>
                  <a:srgbClr val="9A2A2A"/>
                </a:solidFill>
                <a:latin typeface="Arial"/>
              </a:rPr>
              <a:t>NOT IDENTIFIABLE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869680" y="1627632"/>
            <a:ext cx="2743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gate G-1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66928" y="2249424"/>
            <a:ext cx="5029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Forecast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715000" y="2249424"/>
            <a:ext cx="3017520" cy="548639"/>
          </a:xfrm>
          <a:prstGeom prst="roundRect">
            <a:avLst>
              <a:gd name="adj" fmla="val 8000"/>
            </a:avLst>
          </a:prstGeom>
          <a:solidFill>
            <a:srgbClr val="FAE8E8"/>
          </a:solidFill>
          <a:ln w="15875">
            <a:solidFill>
              <a:srgbClr val="9A2A2A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50" b="1" i="0" dirty="0">
                <a:solidFill>
                  <a:srgbClr val="9A2A2A"/>
                </a:solidFill>
                <a:latin typeface="Arial"/>
              </a:rPr>
              <a:t>NOT SUPPORTED YET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869680" y="2249424"/>
            <a:ext cx="2743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gate G-4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66928" y="2871216"/>
            <a:ext cx="5029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District x trade supply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715000" y="2871216"/>
            <a:ext cx="3017520" cy="548639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15875">
            <a:solidFill>
              <a:srgbClr val="8A6400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50" b="1" i="0" dirty="0">
                <a:solidFill>
                  <a:srgbClr val="8A6400"/>
                </a:solidFill>
                <a:latin typeface="Arial"/>
              </a:rPr>
              <a:t>NOT ACQUIRED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8869680" y="2871216"/>
            <a:ext cx="2743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gate G-2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66928" y="3493008"/>
            <a:ext cx="5029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State x occupation supply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715000" y="3493008"/>
            <a:ext cx="3017520" cy="548639"/>
          </a:xfrm>
          <a:prstGeom prst="roundRect">
            <a:avLst>
              <a:gd name="adj" fmla="val 8000"/>
            </a:avLst>
          </a:prstGeom>
          <a:solidFill>
            <a:srgbClr val="FAE8E8"/>
          </a:solidFill>
          <a:ln w="15875">
            <a:solidFill>
              <a:srgbClr val="9A2A2A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50" b="1" i="0" dirty="0">
                <a:solidFill>
                  <a:srgbClr val="9A2A2A"/>
                </a:solidFill>
                <a:latin typeface="Arial"/>
              </a:rPr>
              <a:t>NOT IDENTIFIABLE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869680" y="3493008"/>
            <a:ext cx="2743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gate G-3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66928" y="4114800"/>
            <a:ext cx="5029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Measured shortage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715000" y="4114800"/>
            <a:ext cx="3017520" cy="548639"/>
          </a:xfrm>
          <a:prstGeom prst="roundRect">
            <a:avLst>
              <a:gd name="adj" fmla="val 8000"/>
            </a:avLst>
          </a:prstGeom>
          <a:solidFill>
            <a:srgbClr val="FAE8E8"/>
          </a:solidFill>
          <a:ln w="15875">
            <a:solidFill>
              <a:srgbClr val="9A2A2A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50" b="1" i="0" dirty="0">
                <a:solidFill>
                  <a:srgbClr val="9A2A2A"/>
                </a:solidFill>
                <a:latin typeface="Arial"/>
              </a:rPr>
              <a:t>FALSE — always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869680" y="4114800"/>
            <a:ext cx="2743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gate permanent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66928" y="4736592"/>
            <a:ext cx="5029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PAN-India residual allocation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715000" y="4736592"/>
            <a:ext cx="3017520" cy="548639"/>
          </a:xfrm>
          <a:prstGeom prst="roundRect">
            <a:avLst>
              <a:gd name="adj" fmla="val 8000"/>
            </a:avLst>
          </a:prstGeom>
          <a:solidFill>
            <a:srgbClr val="FAE8E8"/>
          </a:solidFill>
          <a:ln w="15875">
            <a:solidFill>
              <a:srgbClr val="9A2A2A"/>
            </a:solidFill>
          </a:ln>
        </p:spPr>
        <p:txBody>
          <a:bodyPr anchor="ctr" wrap="square" lIns="36576" tIns="36576" rIns="36576" bIns="36576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50" b="1" i="0" dirty="0">
                <a:solidFill>
                  <a:srgbClr val="9A2A2A"/>
                </a:solidFill>
                <a:latin typeface="Arial"/>
              </a:rPr>
              <a:t>PROHIBITED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8869680" y="4736592"/>
            <a:ext cx="2743200" cy="548639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00" b="0" i="0" dirty="0">
                <a:solidFill>
                  <a:srgbClr val="687080"/>
                </a:solidFill>
                <a:latin typeface="Arial"/>
              </a:rPr>
              <a:t>gate permanent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66928" y="5449823"/>
            <a:ext cx="11002975" cy="868679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9A2A2A"/>
            </a:solidFill>
          </a:ln>
        </p:spPr>
        <p:txBody>
          <a:bodyPr anchor="ctr" wrap="square" lIns="201168" tIns="201168" rIns="201168" bIns="201168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400" b="1" i="0" dirty="0">
                <a:solidFill>
                  <a:srgbClr val="15171C"/>
                </a:solidFill>
                <a:latin typeface="Arial"/>
              </a:rPr>
              <a:t>Blocked routes return HTTP 200 with data: null, a reason code and a gate.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400" b="1" i="0" dirty="0">
                <a:solidFill>
                  <a:srgbClr val="9A2A2A"/>
                </a:solidFill>
                <a:latin typeface="Arial"/>
              </a:rPr>
              <a:t>A 404 would read as “none found”. The truth is “not computable”.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Source: publication contract 7.3.1 · /api/capabilities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Identification-aware analytics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Not the framework. These are the things we believe are genuinely uncommon.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66928" y="1572768"/>
            <a:ext cx="566928" cy="768096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A4FA0"/>
            </a:solidFill>
          </a:ln>
        </p:spPr>
        <p:txBody>
          <a:bodyPr anchor="ctr" wrap="square" lIns="18288" tIns="18288" rIns="18288" bIns="18288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1A4FA0"/>
                </a:solidFill>
                <a:latin typeface="Arial"/>
              </a:rPr>
              <a:t>1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280160" y="1572768"/>
            <a:ext cx="10332720" cy="768096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We distinguish “missing” from “not identifiable”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80" b="0" i="0" dirty="0">
                <a:solidFill>
                  <a:srgbClr val="687080"/>
                </a:solidFill>
                <a:latin typeface="Arial"/>
              </a:rPr>
              <a:t>NOT_ACQUIRED is a paperwork problem. NOT_IDENTIFIABLE is a mathematical result.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2386584"/>
            <a:ext cx="566928" cy="768096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A4FA0"/>
            </a:solidFill>
          </a:ln>
        </p:spPr>
        <p:txBody>
          <a:bodyPr anchor="ctr" wrap="square" lIns="18288" tIns="18288" rIns="18288" bIns="18288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1A4FA0"/>
                </a:solidFill>
                <a:latin typeface="Arial"/>
              </a:rPr>
              <a:t>2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280160" y="2386584"/>
            <a:ext cx="10332720" cy="768096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A publication contract enforced in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80" b="0" i="0" dirty="0">
                <a:solidFill>
                  <a:srgbClr val="687080"/>
                </a:solidFill>
                <a:latin typeface="Arial"/>
              </a:rPr>
              <a:t>Evidence, confidence, coverage and prohibited readings are part of the response contract. The app refuses to start on a breach.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66928" y="3200400"/>
            <a:ext cx="566928" cy="768096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A4FA0"/>
            </a:solidFill>
          </a:ln>
        </p:spPr>
        <p:txBody>
          <a:bodyPr anchor="ctr" wrap="square" lIns="18288" tIns="18288" rIns="18288" bIns="18288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1A4FA0"/>
                </a:solidFill>
                <a:latin typeface="Arial"/>
              </a:rPr>
              <a:t>3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280160" y="3200400"/>
            <a:ext cx="10332720" cy="768096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Evidence status is read from the data, never declared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80" b="0" i="0" dirty="0">
                <a:solidFill>
                  <a:srgbClr val="687080"/>
                </a:solidFill>
                <a:latin typeface="Arial"/>
              </a:rPr>
              <a:t>A derived output cannot be relabelled OBSERVED by editing config. A test forges a lying config and proves it.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66928" y="4014216"/>
            <a:ext cx="566928" cy="768096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A4FA0"/>
            </a:solidFill>
          </a:ln>
        </p:spPr>
        <p:txBody>
          <a:bodyPr anchor="ctr" wrap="square" lIns="18288" tIns="18288" rIns="18288" bIns="18288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1A4FA0"/>
                </a:solidFill>
                <a:latin typeface="Arial"/>
              </a:rPr>
              <a:t>4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280160" y="4014216"/>
            <a:ext cx="10332720" cy="768096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Caveats stored as data — and self-criticism we published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80" b="0" i="0" dirty="0">
                <a:solidFill>
                  <a:srgbClr val="687080"/>
                </a:solidFill>
                <a:latin typeface="Arial"/>
              </a:rPr>
              <a:t>Within a state our district ordering IS the Udyam ordering — 0 of 36 states differ. We print that above the table.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66928" y="4828032"/>
            <a:ext cx="566928" cy="768096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A4FA0"/>
            </a:solidFill>
          </a:ln>
        </p:spPr>
        <p:txBody>
          <a:bodyPr anchor="ctr" wrap="square" lIns="18288" tIns="18288" rIns="18288" bIns="18288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1A4FA0"/>
                </a:solidFill>
                <a:latin typeface="Arial"/>
              </a:rPr>
              <a:t>5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1280160" y="4828032"/>
            <a:ext cx="10332720" cy="768096"/>
          </a:xfrm>
          <a:prstGeom prst="rect">
            <a:avLst/>
          </a:prstGeom>
          <a:noFill/>
          <a:ln>
            <a:noFill/>
          </a:ln>
        </p:spPr>
        <p:txBody>
          <a:bodyPr anchor="ctr" wrap="square" lIns="73152" tIns="73152" rIns="73152" bIns="73152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450" b="1" i="0" dirty="0">
                <a:solidFill>
                  <a:srgbClr val="15171C"/>
                </a:solidFill>
                <a:latin typeface="Arial"/>
              </a:rPr>
              <a:t>A terminology lint over the published surface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80" b="0" i="0" dirty="0">
                <a:solidFill>
                  <a:srgbClr val="687080"/>
                </a:solidFill>
                <a:latin typeface="Arial"/>
              </a:rPr>
              <a:t>Reserved words and forbidden phrasings fail the build — translation files included.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66928" y="5687567"/>
            <a:ext cx="11002975" cy="548639"/>
          </a:xfrm>
          <a:prstGeom prst="roundRect">
            <a:avLst>
              <a:gd name="adj" fmla="val 8000"/>
            </a:avLst>
          </a:prstGeom>
          <a:solidFill>
            <a:srgbClr val="FAE8E8"/>
          </a:solidFill>
          <a:ln w="15875">
            <a:solidFill>
              <a:srgbClr val="9A2A2A"/>
            </a:solidFill>
          </a:ln>
        </p:spPr>
        <p:txBody>
          <a:bodyPr anchor="ctr" wrap="square" lIns="164592" tIns="164592" rIns="164592" bIns="164592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250" b="1" i="0" dirty="0">
                <a:solidFill>
                  <a:srgbClr val="9A2A2A"/>
                </a:solidFill>
                <a:latin typeface="Arial"/>
              </a:rPr>
              <a:t>There is no machine-learning model in production, and no ML library is installed. Every ML capability this PS implies is blocked by the same missing evidence — not by modelling.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66928" y="6345935"/>
            <a:ext cx="11002975" cy="310896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050" b="0" i="0" dirty="0">
                <a:solidFill>
                  <a:srgbClr val="687080"/>
                </a:solidFill>
                <a:latin typeface="Arial"/>
              </a:rPr>
              <a:t>Verified: no scikit-learn, LightGBM, XGBoost, PyTorch, TensorFlow or statsforecast; no model code in src/ or api/.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One dataset unlocks the gap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Gated progression. No dates promised — each step needs its evidence first.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93280" y="1371600"/>
            <a:ext cx="8950271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66928" y="384048"/>
            <a:ext cx="11002975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3000" b="1" i="0" dirty="0">
                <a:solidFill>
                  <a:srgbClr val="15171C"/>
                </a:solidFill>
                <a:latin typeface="Arial"/>
              </a:rPr>
              <a:t>Impact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66928" y="1060704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tIns="0" rIns="0" bIns="0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687080"/>
                </a:solidFill>
                <a:latin typeface="Arial"/>
              </a:rPr>
              <a:t>What a planner can do today — and what we are asking for.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66928" y="150876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2F2EA"/>
          </a:solidFill>
          <a:ln w="15875">
            <a:solidFill>
              <a:srgbClr val="15543A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15543A"/>
                </a:solidFill>
                <a:latin typeface="Arial"/>
              </a:rPr>
              <a:t>Today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Inspect official demand evidence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with full provenance.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Compare districts within a state.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See exactly what is not covered.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15968" y="150876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A4FA0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1A4FA0"/>
                </a:solidFill>
                <a:latin typeface="Arial"/>
              </a:rPr>
              <a:t>For MSDE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A specific, costed data request: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state x trade training outcomes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with complete marginals.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Addressed to the data owner.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065008" y="1508760"/>
            <a:ext cx="3557016" cy="1783080"/>
          </a:xfrm>
          <a:prstGeom prst="roundRect">
            <a:avLst>
              <a:gd name="adj" fmla="val 8000"/>
            </a:avLst>
          </a:prstGeom>
          <a:solidFill>
            <a:srgbClr val="FAE8E8"/>
          </a:solidFill>
          <a:ln w="15875">
            <a:solidFill>
              <a:srgbClr val="9A2A2A"/>
            </a:solidFill>
          </a:ln>
        </p:spPr>
        <p:txBody>
          <a:bodyPr anchor="t" wrap="square" lIns="146304" tIns="146304" rIns="146304" bIns="146304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9A2A2A"/>
                </a:solidFill>
                <a:latin typeface="Arial"/>
              </a:rPr>
              <a:t>Not claimed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No deployment exists, so no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policy savings, no jobs created,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no efficiency percentages.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IN" sz="1250" b="0" i="0" dirty="0">
                <a:solidFill>
                  <a:srgbClr val="15171C"/>
                </a:solidFill>
                <a:latin typeface="Arial"/>
              </a:rPr>
              <a:t>Any such figure would be invented.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66928" y="3611880"/>
            <a:ext cx="11002975" cy="16002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5875">
            <a:solidFill>
              <a:srgbClr val="1A4FA0"/>
            </a:solidFill>
          </a:ln>
        </p:spPr>
        <p:txBody>
          <a:bodyPr anchor="ctr" wrap="square" lIns="274319" tIns="274319" rIns="274319" bIns="274319">
            <a:norm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2100" b="1" i="0" dirty="0">
                <a:solidFill>
                  <a:srgbClr val="15171C"/>
                </a:solidFill>
                <a:latin typeface="Arial"/>
              </a:rPr>
              <a:t>We don’t manufacture a skill gap from incomplete data.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2100" b="1" i="0" dirty="0">
                <a:solidFill>
                  <a:srgbClr val="1A4FA0"/>
                </a:solidFill>
                <a:latin typeface="Arial"/>
              </a:rPr>
              <a:t>We build the evidence infrastructure that makes the gap computable when the right data becomes available.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66928" y="5440680"/>
            <a:ext cx="11002975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91440" rIns="91440" bIns="91440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50" b="0" i="0" dirty="0">
                <a:solidFill>
                  <a:srgbClr val="687080"/>
                </a:solidFill>
                <a:latin typeface="Arial"/>
              </a:rPr>
              <a:t>40 tables · 82,358 rows   ·   30 routes   ·   11 exports with caveats in the file header   ·   16 capabilities blocked with reasons   ·   479 tests   ·   is_measured_shortage = false, enforced at startup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MIS">
  <a:themeElements>
    <a:clrScheme name="LMIS">
      <a:dk1>
        <a:srgbClr val="15171C"/>
      </a:dk1>
      <a:lt1>
        <a:srgbClr val="FFFFFF"/>
      </a:lt1>
      <a:dk2>
        <a:srgbClr val="1A4FA0"/>
      </a:dk2>
      <a:lt2>
        <a:srgbClr val="F7F8FB"/>
      </a:lt2>
      <a:accent1>
        <a:srgbClr val="1A4FA0"/>
      </a:accent1>
      <a:accent2>
        <a:srgbClr val="15543A"/>
      </a:accent2>
      <a:accent3>
        <a:srgbClr val="8A6400"/>
      </a:accent3>
      <a:accent4>
        <a:srgbClr val="9A2A2A"/>
      </a:accent4>
      <a:accent5>
        <a:srgbClr val="3C4A63"/>
      </a:accent5>
      <a:accent6>
        <a:srgbClr val="687080"/>
      </a:accent6>
      <a:hlink>
        <a:srgbClr val="1A4FA0"/>
      </a:hlink>
      <a:folHlink>
        <a:srgbClr val="687080"/>
      </a:folHlink>
    </a:clrScheme>
    <a:fontScheme name="LM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M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587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